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064348-DC8E-454A-9DB5-BDDA07D100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B1C2E2-F56D-4D86-8491-10D881F890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B3BD133-E829-459A-8798-0A73D25B46D8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de-DE" sz="3200" spc="-1" strike="noStrike">
                <a:solidFill>
                  <a:srgbClr val="000000"/>
                </a:solidFill>
                <a:latin typeface="Roboto Slab"/>
              </a:rPr>
              <a:t>Experiment: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de-DE" sz="3200" spc="-1" strike="noStrike">
                <a:solidFill>
                  <a:srgbClr val="000000"/>
                </a:solidFill>
                <a:latin typeface="Roboto Slab"/>
              </a:rPr>
              <a:t>Bestimmung der Schallgeschwindigkeit</a:t>
            </a: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Roboto Slab"/>
              </a:rPr>
              <a:t>Materialien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Geräuschquelle (z.B. Lautsprecher oder Klatschen)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2 Mikrofone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Längenmessgerät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Roboto Slab"/>
              </a:rPr>
              <a:t>Durchführung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Geräuschquelle an Position     auslösen und mit den Mikrofonen aufzeichnen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Geräuschquelle an Position     auslösen und mit den Mikrofonen aufzeichnen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Differenz in Zeitabständen zwischen dem Auslösen der Töne mithilfe der Tonaufnahmen messen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rechnen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" name=""/>
              <p:cNvSpPr txBox="1"/>
              <p:nvPr/>
            </p:nvSpPr>
            <p:spPr>
              <a:xfrm>
                <a:off x="4061880" y="1326600"/>
                <a:ext cx="234720" cy="32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" name=""/>
              <p:cNvSpPr txBox="1"/>
              <p:nvPr/>
            </p:nvSpPr>
            <p:spPr>
              <a:xfrm>
                <a:off x="4060800" y="1659600"/>
                <a:ext cx="235800" cy="32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sp>
        <p:nvSpPr>
          <p:cNvPr id="14" name=""/>
          <p:cNvSpPr txBox="1"/>
          <p:nvPr/>
        </p:nvSpPr>
        <p:spPr>
          <a:xfrm>
            <a:off x="5265360" y="2871720"/>
            <a:ext cx="3914640" cy="2528280"/>
          </a:xfrm>
          <a:prstGeom prst="rect">
            <a:avLst/>
          </a:pr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a:blipFill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/>
            <a:r>
              <a:rPr b="0" lang="de-DE" sz="1200" spc="-1" strike="noStrike">
                <a:solidFill>
                  <a:srgbClr val="000000"/>
                </a:solidFill>
                <a:latin typeface="Roboto"/>
              </a:rPr>
              <a:t>Abbildung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Roboto Slab"/>
              </a:rPr>
              <a:t>Rechnung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" name=""/>
              <p:cNvSpPr txBox="1"/>
              <p:nvPr/>
            </p:nvSpPr>
            <p:spPr>
              <a:xfrm>
                <a:off x="504000" y="1172520"/>
                <a:ext cx="2784240" cy="3228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s</m:t>
                                  </m:r>
                                </m:e>
                                <m:sub>
                                  <m:r>
                                    <m:t xml:space="preserve">1</m:t>
                                  </m:r>
                                </m:sub>
                              </m:sSub>
                              <m:r>
                                <m:t xml:space="preserve">=</m:t>
                              </m:r>
                              <m:r>
                                <m:t xml:space="preserve">50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m:t xml:space="preserve">cm</m:t>
                              </m:r>
                              <m:r>
                                <m:t xml:space="preserve">;</m:t>
                              </m:r>
                            </m:e>
                            <m:e>
                              <m:sSub>
                                <m:e>
                                  <m:r>
                                    <m:t xml:space="preserve">s</m:t>
                                  </m:r>
                                </m:e>
                                <m:sub>
                                  <m:r>
                                    <m:t xml:space="preserve">2</m:t>
                                  </m:r>
                                </m:sub>
                              </m:sSub>
                              <m:r>
                                <m:t xml:space="preserve">=</m:t>
                              </m:r>
                              <m:r>
                                <m:t xml:space="preserve">100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m:t xml:space="preserve">cm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1</m:t>
                                  </m:r>
                                </m:sub>
                              </m:sSub>
                              <m:r>
                                <m:t xml:space="preserve">=</m:t>
                              </m:r>
                              <m:r>
                                <m:t xml:space="preserve">7,0349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m:t xml:space="preserve">s</m:t>
                              </m:r>
                              <m:r>
                                <m:t xml:space="preserve">;</m:t>
                              </m:r>
                            </m:e>
                            <m:e>
                              <m:sSub>
                                <m:e>
                                  <m:r>
                                    <m:t xml:space="preserve">t</m:t>
                                  </m:r>
                                </m:e>
                                <m:sub>
                                  <m:r>
                                    <m:t xml:space="preserve">2</m:t>
                                  </m:r>
                                </m:sub>
                              </m:sSub>
                              <m:r>
                                <m:t xml:space="preserve">=</m:t>
                              </m:r>
                              <m:r>
                                <m:t xml:space="preserve">7,0364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m:t xml:space="preserve">s</m:t>
                              </m:r>
                            </m:e>
                          </m:mr>
                        </m:m>
                      </m:e>
                      <m:e>
                        <m:m>
                          <m:mr>
                            <m:e>
                              <m:r>
                                <m:t xml:space="preserve">v</m:t>
                              </m:r>
                            </m:e>
                            <m:e>
                              <m:r>
                                <m:t xml:space="preserve">=</m:t>
                              </m:r>
                            </m:e>
                            <m:e>
                              <m:f>
                                <m:num>
                                  <m:r>
                                    <m:t xml:space="preserve">Δ</m:t>
                                  </m:r>
                                  <m:r>
                                    <m:t xml:space="preserve">s</m:t>
                                  </m:r>
                                </m:num>
                                <m:den>
                                  <m:r>
                                    <m:t xml:space="preserve">Δ</m:t>
                                  </m:r>
                                  <m:r>
                                    <m:t xml:space="preserve">t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t xml:space="preserve"> </m:t>
                              </m:r>
                            </m:e>
                            <m:e>
                              <m:r>
                                <m:t xml:space="preserve">=</m:t>
                              </m:r>
                            </m:e>
                            <m:e>
                              <m:f>
                                <m:num>
                                  <m:sSub>
                                    <m:e>
                                      <m:r>
                                        <m:t xml:space="preserve">s</m:t>
                                      </m:r>
                                    </m:e>
                                    <m:sub>
                                      <m:r>
                                        <m:t xml:space="preserve">2</m:t>
                                      </m:r>
                                    </m:sub>
                                  </m:sSub>
                                  <m:r>
                                    <m:t xml:space="preserve">−</m:t>
                                  </m:r>
                                  <m:sSub>
                                    <m:e>
                                      <m:r>
                                        <m:t xml:space="preserve">s</m:t>
                                      </m:r>
                                    </m:e>
                                    <m:sub>
                                      <m:r>
                                        <m:t xml:space="preserve"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 xml:space="preserve">t</m:t>
                                      </m:r>
                                    </m:e>
                                    <m:sub>
                                      <m:r>
                                        <m:t xml:space="preserve">2</m:t>
                                      </m:r>
                                    </m:sub>
                                  </m:sSub>
                                  <m:r>
                                    <m:t xml:space="preserve">−</m:t>
                                  </m:r>
                                  <m:sSub>
                                    <m:e>
                                      <m:r>
                                        <m:t xml:space="preserve">t</m:t>
                                      </m:r>
                                    </m:e>
                                    <m:sub>
                                      <m:r>
                                        <m:t xml:space="preserve"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t xml:space="preserve"> </m:t>
                              </m:r>
                            </m:e>
                            <m:e>
                              <m:r>
                                <m:t xml:space="preserve">=</m:t>
                              </m:r>
                            </m:e>
                            <m:e>
                              <m:f>
                                <m:num>
                                  <m:r>
                                    <m:t xml:space="preserve">100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cm</m:t>
                                  </m:r>
                                  <m:r>
                                    <m:t xml:space="preserve">−</m:t>
                                  </m:r>
                                  <m:r>
                                    <m:t xml:space="preserve">50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cm</m:t>
                                  </m:r>
                                </m:num>
                                <m:den>
                                  <m:r>
                                    <m:t xml:space="preserve">7,0364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s</m:t>
                                  </m:r>
                                  <m:r>
                                    <m:t xml:space="preserve">−</m:t>
                                  </m:r>
                                  <m:r>
                                    <m:t xml:space="preserve">7,0349</m:t>
                                  </m:r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s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t xml:space="preserve"> </m:t>
                              </m:r>
                            </m:e>
                            <m:e>
                              <m:r>
                                <m:t xml:space="preserve">≈</m:t>
                              </m:r>
                            </m:e>
                            <m:e>
                              <m:r>
                                <m:t xml:space="preserve">333</m:t>
                              </m:r>
                              <m:f>
                                <m:num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m</m:t>
                                  </m:r>
                                </m:num>
                                <m:den>
                                  <m:r>
                                    <m:rPr>
                                      <m:lit/>
                                      <m:nor/>
                                    </m:rPr>
                                    <m:t xml:space="preserve">s</m:t>
                                  </m:r>
                                </m:den>
                              </m:f>
                            </m:e>
                          </m:mr>
                        </m:m>
                      </m:e>
                    </m:eqArr>
                  </m:oMath>
                </a14:m>
              </a:p>
            </p:txBody>
          </p:sp>
        </mc:Choice>
        <mc:Fallback/>
      </mc:AlternateContent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3870000" y="1172520"/>
            <a:ext cx="2970000" cy="396000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6930000" y="1172520"/>
            <a:ext cx="2970000" cy="3960000"/>
          </a:xfrm>
          <a:prstGeom prst="rect">
            <a:avLst/>
          </a:prstGeom>
          <a:ln w="0">
            <a:noFill/>
          </a:ln>
        </p:spPr>
      </p:pic>
      <p:sp>
        <p:nvSpPr>
          <p:cNvPr id="19" name=""/>
          <p:cNvSpPr txBox="1"/>
          <p:nvPr/>
        </p:nvSpPr>
        <p:spPr>
          <a:xfrm>
            <a:off x="3780000" y="5132520"/>
            <a:ext cx="6120000" cy="2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DE" sz="1200" spc="-1" strike="noStrike">
                <a:solidFill>
                  <a:srgbClr val="000000"/>
                </a:solidFill>
                <a:latin typeface="Roboto"/>
              </a:rPr>
              <a:t>Fotos der Umsetzung des Experiments, inkl. gemessenen Distanzen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DE" sz="4400" spc="-1" strike="noStrike">
                <a:solidFill>
                  <a:srgbClr val="000000"/>
                </a:solidFill>
                <a:latin typeface="Roboto Slab"/>
              </a:rPr>
              <a:t>Fehlerquellen</a:t>
            </a:r>
            <a:endParaRPr b="0" lang="de-D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genutzte Geräuschquelle war ungenau positioniert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Abtastrate der Mikrofone betrug 48.000 Hz → Ungenauigkeiten in gemessenen Zeitabständen zwischen beiden Geräuschen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283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de-DE" sz="2000" spc="-1" strike="noStrike">
                <a:solidFill>
                  <a:srgbClr val="000000"/>
                </a:solidFill>
                <a:latin typeface="Roboto"/>
              </a:rPr>
              <a:t>Unterschied in Distanzen zwischen Mikrofonen und     war klein → verstärkt Ungenauigkeit durch andere Fehlerquellen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" name=""/>
              <p:cNvSpPr txBox="1"/>
              <p:nvPr/>
            </p:nvSpPr>
            <p:spPr>
              <a:xfrm>
                <a:off x="6739200" y="2302920"/>
                <a:ext cx="234720" cy="32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L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sp>
        <p:nvSpPr>
          <p:cNvPr id="23" name=""/>
          <p:cNvSpPr txBox="1"/>
          <p:nvPr/>
        </p:nvSpPr>
        <p:spPr>
          <a:xfrm>
            <a:off x="5817600" y="2700000"/>
            <a:ext cx="3902400" cy="2520360"/>
          </a:xfrm>
          <a:prstGeom prst="rect">
            <a:avLst/>
          </a:pr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a:blipFill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/>
            <a:r>
              <a:rPr b="0" lang="de-DE" sz="1200" spc="-1" strike="noStrike">
                <a:solidFill>
                  <a:srgbClr val="000000"/>
                </a:solidFill>
                <a:latin typeface="Roboto"/>
              </a:rPr>
              <a:t>Abbildung</a:t>
            </a:r>
            <a:endParaRPr b="0" lang="de-DE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LibreOffice/24.2.6.2$Linux_X86_64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2024-12-08T12:25:39Z</dcterms:created>
  <dc:creator/>
  <dc:description/>
  <dc:language>de-DE</dc:language>
  <cp:lastModifiedBy/>
  <dcterms:modified xsi:type="dcterms:W3CDTF">2024-12-08T14:11:03Z</dcterms:modified>
  <cp:revision>2</cp:revision>
  <dc:subject/>
  <dc:title/>
</cp:coreProperties>
</file>